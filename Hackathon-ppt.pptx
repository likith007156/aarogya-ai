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5"/>
  </p:notesMasterIdLst>
  <p:handoutMasterIdLst>
    <p:handoutMasterId r:id="rId16"/>
  </p:handoutMasterIdLst>
  <p:sldIdLst>
    <p:sldId id="2147479510" r:id="rId6"/>
    <p:sldId id="2147478866" r:id="rId7"/>
    <p:sldId id="2147478862" r:id="rId8"/>
    <p:sldId id="2147478861" r:id="rId9"/>
    <p:sldId id="2147479513" r:id="rId10"/>
    <p:sldId id="2147478864" r:id="rId11"/>
    <p:sldId id="2147479514" r:id="rId12"/>
    <p:sldId id="2147479515" r:id="rId13"/>
    <p:sldId id="21474795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8"/>
    <a:srgbClr val="05819B"/>
    <a:srgbClr val="0ED1D3"/>
    <a:srgbClr val="E2FDFE"/>
    <a:srgbClr val="26EFE9"/>
    <a:srgbClr val="23ECE7"/>
    <a:srgbClr val="1EE5E2"/>
    <a:srgbClr val="19DEDD"/>
    <a:srgbClr val="16DBDB"/>
    <a:srgbClr val="13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A9227-9831-B483-8C5C-410AA810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EABFD-541C-2989-F0BD-C55738387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2D118-61C9-5498-75B1-EA543CB2D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55B03-8ED7-8563-BF9D-C0F4CD96F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379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7898E-EB4E-726A-7E42-93B80E67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4F258-5B25-4F2B-FCE5-C7CC7776F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3684F-F7D9-2D8E-FD2C-7DC0B047D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2AC6B-ED9D-F474-B26A-A5DCF7355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112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66EF-10A3-81D6-821D-A6EF2BC2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AE896-7765-A17A-B181-B748D9659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0AA0-5093-E938-A434-1F6C2395F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64DA6-D45C-1ED8-D1EF-0F3521966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68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659" y="3930889"/>
            <a:ext cx="9674812" cy="2125782"/>
          </a:xfrm>
        </p:spPr>
        <p:txBody>
          <a:bodyPr/>
          <a:lstStyle/>
          <a:p>
            <a:r>
              <a:rPr lang="en-US" sz="1800" dirty="0">
                <a:solidFill>
                  <a:srgbClr val="26EFE9"/>
                </a:solidFill>
              </a:rPr>
              <a:t>Idea Title : Aarogya AI</a:t>
            </a:r>
          </a:p>
          <a:p>
            <a:r>
              <a:rPr lang="en-US" sz="1800" dirty="0">
                <a:solidFill>
                  <a:srgbClr val="26EFE9"/>
                </a:solidFill>
              </a:rPr>
              <a:t>Team Captain Name : Bhavana srinivasa</a:t>
            </a:r>
          </a:p>
          <a:p>
            <a:r>
              <a:rPr lang="en-US" sz="1800" dirty="0">
                <a:solidFill>
                  <a:srgbClr val="26EFE9"/>
                </a:solidFill>
              </a:rPr>
              <a:t>Team members Names : Bhavana srinivasa  |  Nanditha L.N  |  Likith Kumar M  </a:t>
            </a:r>
          </a:p>
          <a:p>
            <a:r>
              <a:rPr lang="en-US" sz="1800" dirty="0">
                <a:solidFill>
                  <a:srgbClr val="26EFE9"/>
                </a:solidFill>
              </a:rPr>
              <a:t>                                        Mohammad Sameer Khazi</a:t>
            </a:r>
          </a:p>
          <a:p>
            <a:r>
              <a:rPr lang="en-US" sz="1800" dirty="0">
                <a:solidFill>
                  <a:srgbClr val="26EFE9"/>
                </a:solidFill>
              </a:rPr>
              <a:t>College Name : SJB Institute of Technology, Bengaluru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3089568"/>
            <a:ext cx="9338360" cy="677108"/>
          </a:xfrm>
        </p:spPr>
        <p:txBody>
          <a:bodyPr/>
          <a:lstStyle/>
          <a:p>
            <a:r>
              <a:rPr lang="en-IN" sz="4400" dirty="0">
                <a:solidFill>
                  <a:schemeClr val="bg1"/>
                </a:solidFill>
              </a:rPr>
              <a:t>MVP Presentation - Core Titans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Aarogya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1EA97-7795-6D51-F716-B94C0F1807E9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C65C9D-AA15-5E74-6D9B-F3AD0A55B2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029200" cy="4182657"/>
          </a:xfrm>
        </p:spPr>
        <p:txBody>
          <a:bodyPr/>
          <a:lstStyle/>
          <a:p>
            <a:endParaRPr lang="en-US" sz="1400" dirty="0"/>
          </a:p>
          <a:p>
            <a:r>
              <a:rPr lang="en-US" sz="1500" dirty="0"/>
              <a:t>India has </a:t>
            </a:r>
            <a:r>
              <a:rPr lang="en-US" sz="1500" b="1" dirty="0"/>
              <a:t>1 doctor per 1,456 patients</a:t>
            </a:r>
            <a:r>
              <a:rPr lang="en-US" sz="1500" dirty="0"/>
              <a:t>, below the WHO standard of 1:1,000.</a:t>
            </a:r>
          </a:p>
          <a:p>
            <a:r>
              <a:rPr lang="en-US" sz="1500" b="1" dirty="0"/>
              <a:t>600M+ rural citizens</a:t>
            </a:r>
            <a:r>
              <a:rPr lang="en-US" sz="1500" dirty="0"/>
              <a:t> lack diagnostic access, leaving TB, hypertension, and anemia undetected.</a:t>
            </a:r>
          </a:p>
          <a:p>
            <a:r>
              <a:rPr lang="en-US" sz="1500" b="1" dirty="0"/>
              <a:t>Language barriers</a:t>
            </a:r>
            <a:r>
              <a:rPr lang="en-US" sz="1500" dirty="0"/>
              <a:t> exclude non-English/Hindi speakers from digital health apps.</a:t>
            </a:r>
          </a:p>
          <a:p>
            <a:r>
              <a:rPr lang="en-US" sz="1500" dirty="0"/>
              <a:t>Late-stage disease management costs </a:t>
            </a:r>
            <a:r>
              <a:rPr lang="en-US" sz="1500" b="1" dirty="0"/>
              <a:t>₹2,100 crore annually</a:t>
            </a:r>
            <a:r>
              <a:rPr lang="en-US" sz="1500" dirty="0"/>
              <a:t> (ICMR, 2023).</a:t>
            </a:r>
          </a:p>
          <a:p>
            <a:r>
              <a:rPr lang="en-US" sz="1500" b="1" dirty="0"/>
              <a:t>Primary health centers</a:t>
            </a:r>
            <a:r>
              <a:rPr lang="en-US" sz="1500" dirty="0"/>
              <a:t> remain under-resourced, limiting equitable care delivery.</a:t>
            </a:r>
          </a:p>
          <a:p>
            <a:r>
              <a:rPr lang="en-US" sz="1500" dirty="0"/>
              <a:t>Rising </a:t>
            </a:r>
            <a:r>
              <a:rPr lang="en-US" sz="1500" b="1" dirty="0"/>
              <a:t>non-communicable diseases</a:t>
            </a:r>
            <a:r>
              <a:rPr lang="en-US" sz="1500" dirty="0"/>
              <a:t> increase demand, widening the gap further.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029200" cy="418265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190" indent="-285750"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rgbClr val="000048"/>
              </a:solidFill>
            </a:endParaRPr>
          </a:p>
          <a:p>
            <a:r>
              <a:rPr lang="en-IN" sz="1500" b="1" dirty="0"/>
              <a:t>Voice-First GenAI</a:t>
            </a:r>
            <a:r>
              <a:rPr lang="en-IN" sz="1500" dirty="0"/>
              <a:t> enables early risk detection and care routing in less than 60 seconds.</a:t>
            </a:r>
          </a:p>
          <a:p>
            <a:r>
              <a:rPr lang="en-IN" sz="1500" b="1" dirty="0"/>
              <a:t>Sarvam API integration</a:t>
            </a:r>
            <a:r>
              <a:rPr lang="en-IN" sz="1500" dirty="0"/>
              <a:t> supports 22 Indian languages, removing literacy barriers.</a:t>
            </a:r>
          </a:p>
          <a:p>
            <a:r>
              <a:rPr lang="en-IN" sz="1500" b="1" dirty="0"/>
              <a:t>Autonomous agentic flow</a:t>
            </a:r>
            <a:r>
              <a:rPr lang="en-IN" sz="1500" dirty="0"/>
              <a:t> executes next steps automatically across government systems.</a:t>
            </a:r>
          </a:p>
          <a:p>
            <a:r>
              <a:rPr lang="en-IN" sz="1500" b="1" dirty="0"/>
              <a:t>ASHA empowerment</a:t>
            </a:r>
            <a:r>
              <a:rPr lang="en-IN" sz="1500" dirty="0"/>
              <a:t> with AI-guided digital screening boosts productivity 3x.</a:t>
            </a:r>
          </a:p>
          <a:p>
            <a:r>
              <a:rPr lang="en-IN" sz="1500" b="1" dirty="0"/>
              <a:t>WhatsApp bot prototype</a:t>
            </a:r>
            <a:r>
              <a:rPr lang="en-IN" sz="1500" dirty="0"/>
              <a:t> ensures accessibility across devices.</a:t>
            </a:r>
          </a:p>
          <a:p>
            <a:r>
              <a:rPr lang="en-IN" sz="1500" b="1" dirty="0"/>
              <a:t>Disease risk ML models</a:t>
            </a:r>
            <a:r>
              <a:rPr lang="en-IN" sz="1500" dirty="0"/>
              <a:t> cover TB, diabetes, anaemia, and hypertension.</a:t>
            </a: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Aarogya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17601"/>
            <a:ext cx="5178042" cy="43342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500" b="1" dirty="0"/>
              <a:t>Offline-first IVRS</a:t>
            </a:r>
            <a:r>
              <a:rPr lang="en-IN" sz="1500" dirty="0"/>
              <a:t> works on basic keypad phones without internet.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Sarvam-native pipeline</a:t>
            </a:r>
            <a:r>
              <a:rPr lang="en-IN" sz="1500" dirty="0"/>
              <a:t> ensures vernacular-first design, not just translation.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Automated triage/referrals</a:t>
            </a:r>
            <a:r>
              <a:rPr lang="en-IN" sz="1500" dirty="0"/>
              <a:t> reduce response times from days to seconds.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ABDM-ready onboarding</a:t>
            </a:r>
            <a:r>
              <a:rPr lang="en-IN" sz="1500" dirty="0"/>
              <a:t> leverages 650M+ ABHA IDs instantly.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NIC cloud residency</a:t>
            </a:r>
            <a:r>
              <a:rPr lang="en-IN" sz="1500" dirty="0"/>
              <a:t> ensures sovereign data compliance.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Reusable API connectors</a:t>
            </a:r>
            <a:r>
              <a:rPr lang="en-IN" sz="1500" dirty="0"/>
              <a:t> allow modular integration with government systems.</a:t>
            </a:r>
          </a:p>
          <a:p>
            <a:pPr marL="163512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337315" y="1613037"/>
            <a:ext cx="5029200" cy="404635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500" dirty="0"/>
              <a:t>Screening time reduced from </a:t>
            </a:r>
            <a:r>
              <a:rPr lang="en-US" sz="1500" b="1" dirty="0"/>
              <a:t>38 → 12 minutes</a:t>
            </a:r>
            <a:r>
              <a:rPr lang="en-US" sz="15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500" dirty="0"/>
              <a:t>ASHA throughput increased by </a:t>
            </a:r>
            <a:r>
              <a:rPr lang="en-US" sz="1500" b="1" dirty="0"/>
              <a:t>215%</a:t>
            </a:r>
            <a:r>
              <a:rPr lang="en-US" sz="15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500" dirty="0"/>
              <a:t>TB detection improved from </a:t>
            </a:r>
            <a:r>
              <a:rPr lang="en-US" sz="1500" b="1" dirty="0"/>
              <a:t>28% → 74%</a:t>
            </a:r>
            <a:r>
              <a:rPr lang="en-US" sz="1500" dirty="0"/>
              <a:t>; </a:t>
            </a:r>
          </a:p>
          <a:p>
            <a:pPr algn="just">
              <a:lnSpc>
                <a:spcPct val="150000"/>
              </a:lnSpc>
            </a:pPr>
            <a:r>
              <a:rPr lang="en-US" sz="1500" dirty="0"/>
              <a:t>Diabetes from </a:t>
            </a:r>
            <a:r>
              <a:rPr lang="en-US" sz="1500" b="1" dirty="0"/>
              <a:t>32% → 78%</a:t>
            </a:r>
            <a:r>
              <a:rPr lang="en-US" sz="15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500" dirty="0"/>
              <a:t>Screening cost </a:t>
            </a:r>
            <a:r>
              <a:rPr lang="en-US" sz="1500" b="1" dirty="0"/>
              <a:t>₹2 per patient</a:t>
            </a:r>
            <a:r>
              <a:rPr lang="en-US" sz="1500" dirty="0"/>
              <a:t>, yielding </a:t>
            </a:r>
            <a:r>
              <a:rPr lang="en-US" sz="1500" b="1" dirty="0"/>
              <a:t>15:1 ROI</a:t>
            </a:r>
            <a:r>
              <a:rPr lang="en-US" sz="15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500" dirty="0"/>
              <a:t>Potential </a:t>
            </a:r>
            <a:r>
              <a:rPr lang="en-US" sz="1500" b="1" dirty="0"/>
              <a:t>₹142 crore savings annually</a:t>
            </a:r>
            <a:r>
              <a:rPr lang="en-US" sz="1500" dirty="0"/>
              <a:t> in avoided PMJAY claims.</a:t>
            </a:r>
          </a:p>
          <a:p>
            <a:pPr algn="just">
              <a:lnSpc>
                <a:spcPct val="150000"/>
              </a:lnSpc>
            </a:pPr>
            <a:r>
              <a:rPr lang="en-US" sz="1500" b="1" dirty="0"/>
              <a:t>Scalable efficiency gains</a:t>
            </a:r>
            <a:r>
              <a:rPr lang="en-US" sz="1500" dirty="0"/>
              <a:t> across multiple states and health programs.</a:t>
            </a:r>
          </a:p>
          <a:p>
            <a:pPr>
              <a:spcBef>
                <a:spcPts val="0"/>
              </a:spcBef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Aarogya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316920" y="1592729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defTabSz="68463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600" b="1" dirty="0">
                <a:solidFill>
                  <a:schemeClr val="bg1"/>
                </a:solidFill>
              </a:rPr>
              <a:t>Impact Across Stakeholders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EF1BD92-E0EA-8CDC-5A32-8868529D9CF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56323" y="1975111"/>
            <a:ext cx="10721457" cy="410018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US" sz="2100" b="1" dirty="0"/>
              <a:t>Patients (Rural Citizens):</a:t>
            </a:r>
            <a:r>
              <a:rPr lang="en-US" sz="2100" dirty="0"/>
              <a:t> Early disease detection in under 60 seconds, vernacular voice support, reduced travel (no need to go 50+ km for diagnostics).</a:t>
            </a:r>
          </a:p>
          <a:p>
            <a:pPr>
              <a:lnSpc>
                <a:spcPct val="160000"/>
              </a:lnSpc>
            </a:pPr>
            <a:r>
              <a:rPr lang="en-US" sz="2100" b="1" dirty="0"/>
              <a:t>ASHA Workers:</a:t>
            </a:r>
            <a:r>
              <a:rPr lang="en-US" sz="2100" dirty="0"/>
              <a:t> AI-guided digital screening replaces paper forms, 3x productivity boost, automated referrals and follow-ups.</a:t>
            </a:r>
          </a:p>
          <a:p>
            <a:pPr>
              <a:lnSpc>
                <a:spcPct val="160000"/>
              </a:lnSpc>
            </a:pPr>
            <a:r>
              <a:rPr lang="en-US" sz="2100" b="1" dirty="0"/>
              <a:t>PHC Doctors:</a:t>
            </a:r>
            <a:r>
              <a:rPr lang="en-US" sz="2100" dirty="0"/>
              <a:t> Decision support dashboards, structured patient data, reduced overload from unnecessary referrals.</a:t>
            </a:r>
          </a:p>
          <a:p>
            <a:pPr>
              <a:lnSpc>
                <a:spcPct val="160000"/>
              </a:lnSpc>
            </a:pPr>
            <a:r>
              <a:rPr lang="en-US" sz="2100" b="1" dirty="0"/>
              <a:t>Government &amp; Health Programs:</a:t>
            </a:r>
            <a:r>
              <a:rPr lang="en-US" sz="2100" dirty="0"/>
              <a:t> Seamless ABDM/PMJAY integration, lower treatment costs, improved detection rates, scalable across districts/states.</a:t>
            </a:r>
          </a:p>
          <a:p>
            <a:pPr>
              <a:lnSpc>
                <a:spcPct val="160000"/>
              </a:lnSpc>
            </a:pPr>
            <a:r>
              <a:rPr lang="en-US" sz="2100" b="1" dirty="0"/>
              <a:t>Insurers (PM-JAY &amp; Private):</a:t>
            </a:r>
            <a:r>
              <a:rPr lang="en-US" sz="2100" dirty="0"/>
              <a:t> Reduced late-stage claims, better risk stratification, potential savings of ₹100+ crore annually.</a:t>
            </a:r>
          </a:p>
          <a:p>
            <a:pPr>
              <a:lnSpc>
                <a:spcPct val="160000"/>
              </a:lnSpc>
            </a:pPr>
            <a:r>
              <a:rPr lang="en-US" sz="2100" b="1" dirty="0"/>
              <a:t>NGOs &amp; Rural Health Programs:</a:t>
            </a:r>
            <a:r>
              <a:rPr lang="en-US" sz="2100" dirty="0"/>
              <a:t> Vernacular-native outreach, improved awareness, better monitoring of community health outcomes.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2403-4317-CFB5-7D50-A9840226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99D89A-E726-79EE-9570-364FBFEA4EF6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F24AD-52E6-74D5-930F-9B456F3BE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FA841D-D216-DD27-D88F-4B31C39E7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97C6330-97E3-EBC6-6C90-D19C91A524E6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Aarogya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7B7BB-261C-DE27-452B-224F9E308B3A}"/>
              </a:ext>
            </a:extLst>
          </p:cNvPr>
          <p:cNvSpPr txBox="1"/>
          <p:nvPr/>
        </p:nvSpPr>
        <p:spPr>
          <a:xfrm>
            <a:off x="457199" y="1523904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    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    AWS Cloud Infrastructure</a:t>
            </a:r>
            <a:r>
              <a:rPr lang="en-IN" sz="1400" dirty="0"/>
              <a:t> → scalable &amp; secure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    AI Risk Prediction Models </a:t>
            </a:r>
            <a:r>
              <a:rPr lang="en-IN" sz="1400" dirty="0"/>
              <a:t>→ fast disease detection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    GenAI Conversational Agents </a:t>
            </a:r>
            <a:r>
              <a:rPr lang="en-IN" sz="1400" dirty="0"/>
              <a:t>→ autonomous triage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    Voice Layer(Sarvam AI)   </a:t>
            </a:r>
            <a:r>
              <a:rPr lang="en-IN" sz="1400" dirty="0"/>
              <a:t> → 22+ languages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    ABDM/National Health APIs </a:t>
            </a:r>
            <a:r>
              <a:rPr lang="en-IN" sz="1400" dirty="0"/>
              <a:t>→ interoperability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67EE2BD7-51A1-7306-94F4-18CF5593B67D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E7AF563-5038-A266-DAD3-858FFEDA9D1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943599" y="4356260"/>
            <a:ext cx="5440974" cy="1457475"/>
          </a:xfrm>
        </p:spPr>
        <p:txBody>
          <a:bodyPr/>
          <a:lstStyle/>
          <a:p>
            <a:r>
              <a:rPr lang="en-IN" sz="1400" b="1" dirty="0"/>
              <a:t>Offline-First:</a:t>
            </a:r>
            <a:r>
              <a:rPr lang="en-IN" sz="1400" dirty="0"/>
              <a:t> Works on 2G IVRS and keypad phones.</a:t>
            </a:r>
          </a:p>
          <a:p>
            <a:r>
              <a:rPr lang="en-IN" sz="1400" b="1" dirty="0"/>
              <a:t>Vernacular-Native:</a:t>
            </a:r>
            <a:r>
              <a:rPr lang="en-IN" sz="1400" dirty="0"/>
              <a:t> Built on Sarvam pipeline, not just translation.</a:t>
            </a:r>
          </a:p>
          <a:p>
            <a:r>
              <a:rPr lang="en-IN" sz="1400" b="1" dirty="0"/>
              <a:t>Agentic Automation:</a:t>
            </a:r>
            <a:r>
              <a:rPr lang="en-IN" sz="1400" dirty="0"/>
              <a:t> Reduces response time from days to seconds.</a:t>
            </a:r>
          </a:p>
          <a:p>
            <a:r>
              <a:rPr lang="en-IN" sz="1400" b="1" dirty="0"/>
              <a:t>ABDM-Ready:</a:t>
            </a:r>
            <a:r>
              <a:rPr lang="en-IN" sz="1400" dirty="0"/>
              <a:t> Uses 650M+ ABHA IDs for instant onboarding.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E560C0-7EAA-E788-FDBE-466A41708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6" y="1967326"/>
            <a:ext cx="10284542" cy="192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2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Cognizant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Aarogya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A27B2-E9FC-31F0-BBA2-0630D60A0053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794A1-4959-3DC1-D2F8-05442DC7955A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36AB9FD5-0256-0FA8-A120-BB54470525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676053"/>
            <a:ext cx="5178863" cy="418265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500" b="1" dirty="0"/>
              <a:t>District Rollout:</a:t>
            </a:r>
            <a:r>
              <a:rPr lang="en-IN" sz="1500" dirty="0"/>
              <a:t> Deployable in one district within 3 months at ₹15–20 lakhs.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Mass Capacity:</a:t>
            </a:r>
            <a:r>
              <a:rPr lang="en-IN" sz="1500" dirty="0"/>
              <a:t> Supports 100M+ users via NIC cloud and AWS multi-region.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Low Cost:</a:t>
            </a:r>
            <a:r>
              <a:rPr lang="en-IN" sz="1500" dirty="0"/>
              <a:t> Each AI inference costs only ₹0.01.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Offline Access:</a:t>
            </a:r>
            <a:r>
              <a:rPr lang="en-IN" sz="1500" dirty="0"/>
              <a:t> Works on 2G IVRS and keypad phones.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Modular APIs:</a:t>
            </a:r>
            <a:r>
              <a:rPr lang="en-IN" sz="1500" dirty="0"/>
              <a:t> Reusable connectors for government health systems.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Global Ready:</a:t>
            </a:r>
            <a:r>
              <a:rPr lang="en-IN" sz="1500" dirty="0"/>
              <a:t> Adaptable for Nigeria, Kenya, Indonesia.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A7FA394-9C18-5BA5-A7E4-5BC0E1FA68C8}"/>
              </a:ext>
            </a:extLst>
          </p:cNvPr>
          <p:cNvSpPr txBox="1">
            <a:spLocks/>
          </p:cNvSpPr>
          <p:nvPr/>
        </p:nvSpPr>
        <p:spPr>
          <a:xfrm>
            <a:off x="6304657" y="1650404"/>
            <a:ext cx="5029200" cy="40916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/>
              <a:t>Phase 1 – MVP (Done):</a:t>
            </a:r>
            <a:r>
              <a:rPr lang="en-IN" sz="1400" dirty="0"/>
              <a:t> Basic AI models, multilingual pipeline, WhatsApp bot prototype.</a:t>
            </a:r>
          </a:p>
          <a:p>
            <a:r>
              <a:rPr lang="en-IN" sz="1400" b="1" dirty="0"/>
              <a:t>Phase 2 – District Pilot (3 Months):</a:t>
            </a:r>
            <a:r>
              <a:rPr lang="en-IN" sz="1400" dirty="0"/>
              <a:t> 500 ASHA workers, 5,000 screenings, ABDM linkage, AWS backend live.</a:t>
            </a:r>
          </a:p>
          <a:p>
            <a:r>
              <a:rPr lang="en-IN" sz="1400" b="1" dirty="0"/>
              <a:t>Phase 3 – State Rollout (6 Months):</a:t>
            </a:r>
            <a:r>
              <a:rPr lang="en-IN" sz="1400" dirty="0"/>
              <a:t> Integration with TB registry, insurance checks, PHC dashboards, SMS follow-ups.</a:t>
            </a:r>
          </a:p>
          <a:p>
            <a:r>
              <a:rPr lang="en-IN" sz="1400" b="1" dirty="0"/>
              <a:t>Phase 4 – National Scale (12 Months):</a:t>
            </a:r>
            <a:r>
              <a:rPr lang="en-IN" sz="1400" dirty="0"/>
              <a:t> Full ABDM integration, 10+ languages, village-level disease alerts.</a:t>
            </a:r>
          </a:p>
          <a:p>
            <a:r>
              <a:rPr lang="en-IN" sz="1400" b="1" dirty="0"/>
              <a:t>Phase 5 – Expansion (2+ Years):</a:t>
            </a:r>
            <a:r>
              <a:rPr lang="en-IN" sz="1400" dirty="0"/>
              <a:t> Add maternal health, mental health, voice biomarker diagnostics.</a:t>
            </a:r>
          </a:p>
          <a:p>
            <a:r>
              <a:rPr lang="en-IN" sz="1400" b="1" dirty="0"/>
              <a:t>Future Potential (3–6 Years):</a:t>
            </a:r>
            <a:r>
              <a:rPr lang="en-IN" sz="1400" dirty="0"/>
              <a:t> Cancer &amp; heart risk modules, predictive outbreak alerts, global deployment.</a:t>
            </a:r>
          </a:p>
          <a:p>
            <a:r>
              <a:rPr lang="en-IN" sz="1400" b="1" dirty="0"/>
              <a:t>Continuous Upgrade:</a:t>
            </a:r>
            <a:r>
              <a:rPr lang="en-IN" sz="1400" dirty="0"/>
              <a:t> Regular AI improvements, new disease coverage, ecosystem integrations.</a:t>
            </a: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A2DE-9EE3-D855-93D1-985FBD55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14F551-EE7E-8D4A-4216-F05F03C84D7A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98849D-B5BE-A1EA-4696-B9ADBF704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F783A7-EA28-FAC4-193A-3D16A0722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33AF4C-16A4-B8E1-96D3-CB4185567F86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Aarogya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6D6B0-DE1C-2FF9-2590-E4CBE3213A68}"/>
              </a:ext>
            </a:extLst>
          </p:cNvPr>
          <p:cNvSpPr txBox="1"/>
          <p:nvPr/>
        </p:nvSpPr>
        <p:spPr>
          <a:xfrm>
            <a:off x="343467" y="1479584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9B790C5-5B83-0DD9-3214-0206A25C20C9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b="1" dirty="0">
                <a:solidFill>
                  <a:schemeClr val="bg1"/>
                </a:solidFill>
              </a:rPr>
              <a:t>Market Opportunity 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0687E93-3645-AB47-20C2-D247116BDC5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6814" y="1671484"/>
            <a:ext cx="10672296" cy="40705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500" dirty="0"/>
              <a:t>📈 </a:t>
            </a:r>
            <a:r>
              <a:rPr lang="en-IN" sz="1500" b="1" dirty="0"/>
              <a:t>Digital Health Market:</a:t>
            </a:r>
            <a:r>
              <a:rPr lang="en-IN" sz="1500" dirty="0"/>
              <a:t> Projected to reach </a:t>
            </a:r>
            <a:r>
              <a:rPr lang="en-IN" sz="1400" dirty="0"/>
              <a:t>≈ </a:t>
            </a:r>
            <a:r>
              <a:rPr lang="en-IN" sz="1400" b="1" dirty="0"/>
              <a:t>₹88,000 crore</a:t>
            </a:r>
            <a:r>
              <a:rPr lang="en-IN" sz="1500" b="1" dirty="0"/>
              <a:t> by 2027</a:t>
            </a:r>
            <a:r>
              <a:rPr lang="en-IN" sz="1500" dirty="0"/>
              <a:t>, driven by government initiatives and rising demand for preventive care.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🏥 </a:t>
            </a:r>
            <a:r>
              <a:rPr lang="en-IN" sz="1500" b="1" dirty="0"/>
              <a:t>ABHA Users:</a:t>
            </a:r>
            <a:r>
              <a:rPr lang="en-IN" sz="1500" dirty="0"/>
              <a:t> </a:t>
            </a:r>
            <a:r>
              <a:rPr lang="en-IN" sz="1500" b="1" dirty="0"/>
              <a:t>650M+ citizens</a:t>
            </a:r>
            <a:r>
              <a:rPr lang="en-IN" sz="1500" dirty="0"/>
              <a:t> already onboarded into ABDM, providing a ready digital health infrastructure.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📲 </a:t>
            </a:r>
            <a:r>
              <a:rPr lang="en-IN" sz="1500" b="1" dirty="0"/>
              <a:t>WhatsApp Reach:</a:t>
            </a:r>
            <a:r>
              <a:rPr lang="en-IN" sz="1500" dirty="0"/>
              <a:t> </a:t>
            </a:r>
            <a:r>
              <a:rPr lang="en-IN" sz="1500" b="1" dirty="0"/>
              <a:t>500M+ users</a:t>
            </a:r>
            <a:r>
              <a:rPr lang="en-IN" sz="1500" dirty="0"/>
              <a:t> in India, enabling instant distribution of health services via familiar messaging.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🌍 </a:t>
            </a:r>
            <a:r>
              <a:rPr lang="en-IN" sz="1500" b="1" dirty="0"/>
              <a:t>Global Scalability:</a:t>
            </a:r>
            <a:r>
              <a:rPr lang="en-IN" sz="1500" dirty="0"/>
              <a:t> Adaptable to countries like </a:t>
            </a:r>
            <a:r>
              <a:rPr lang="en-IN" sz="1500" b="1" dirty="0"/>
              <a:t>Nigeria, Kenya, Indonesia</a:t>
            </a:r>
            <a:r>
              <a:rPr lang="en-IN" sz="1500" dirty="0"/>
              <a:t> with similar rural healthcare and language diversity challenges.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💡 </a:t>
            </a:r>
            <a:r>
              <a:rPr lang="en-IN" sz="1500" b="1" dirty="0"/>
              <a:t>Policy Tailwinds:</a:t>
            </a:r>
            <a:r>
              <a:rPr lang="en-IN" sz="1500" dirty="0"/>
              <a:t> Supported by </a:t>
            </a:r>
            <a:r>
              <a:rPr lang="en-IN" sz="1500" b="1" dirty="0"/>
              <a:t>National Digital Health Mission, PM-JAY, Ayushman Bharat</a:t>
            </a:r>
            <a:r>
              <a:rPr lang="en-IN" sz="1500" dirty="0"/>
              <a:t>, ensuring adoption and funding.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🔄 </a:t>
            </a:r>
            <a:r>
              <a:rPr lang="en-IN" sz="1500" b="1" dirty="0"/>
              <a:t>Integration Potential:</a:t>
            </a:r>
            <a:r>
              <a:rPr lang="en-IN" sz="1500" dirty="0"/>
              <a:t> Seamless fit with </a:t>
            </a:r>
            <a:r>
              <a:rPr lang="en-IN" sz="1500" b="1" dirty="0"/>
              <a:t>PHCs, insurers, NGOs</a:t>
            </a:r>
            <a:r>
              <a:rPr lang="en-IN" sz="1500" dirty="0"/>
              <a:t>, creating a multi-stakeholder ecosystem.</a:t>
            </a:r>
          </a:p>
        </p:txBody>
      </p:sp>
    </p:spTree>
    <p:extLst>
      <p:ext uri="{BB962C8B-B14F-4D97-AF65-F5344CB8AC3E}">
        <p14:creationId xmlns:p14="http://schemas.microsoft.com/office/powerpoint/2010/main" val="7509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6A53-CA78-6837-8AA3-32469CAE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04A7A5-1FBD-8736-E2F3-083E1B74B142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70D96D-D610-91A1-AA06-A256BC012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777803-EFCA-6A71-A1B6-82548B1AF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AD3FD-FA15-EC3D-8203-0F7356B33091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Aarogya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B29D4-C7B5-24B2-45EA-73E52094AF79}"/>
              </a:ext>
            </a:extLst>
          </p:cNvPr>
          <p:cNvSpPr txBox="1"/>
          <p:nvPr/>
        </p:nvSpPr>
        <p:spPr>
          <a:xfrm>
            <a:off x="314953" y="1686135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DE88446-5D13-F126-0090-9D1451808137}"/>
              </a:ext>
            </a:extLst>
          </p:cNvPr>
          <p:cNvSpPr/>
          <p:nvPr/>
        </p:nvSpPr>
        <p:spPr>
          <a:xfrm>
            <a:off x="314953" y="1055338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AD37E35-5856-ACAB-85F3-44BEFF996A7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2027746"/>
            <a:ext cx="4095136" cy="2310970"/>
          </a:xfrm>
        </p:spPr>
        <p:txBody>
          <a:bodyPr/>
          <a:lstStyle/>
          <a:p>
            <a:r>
              <a:rPr lang="en-US" sz="1400" b="1" dirty="0"/>
              <a:t>Language Detection :</a:t>
            </a:r>
          </a:p>
          <a:p>
            <a:r>
              <a:rPr lang="en-IN" sz="1400" dirty="0"/>
              <a:t>function </a:t>
            </a:r>
            <a:r>
              <a:rPr lang="en-IN" sz="1400" dirty="0" err="1"/>
              <a:t>detectScriptLanguage</a:t>
            </a:r>
            <a:r>
              <a:rPr lang="en-IN" sz="1400" dirty="0"/>
              <a:t>(text: string) {</a:t>
            </a:r>
          </a:p>
          <a:p>
            <a:r>
              <a:rPr lang="en-IN" sz="1400" dirty="0"/>
              <a:t>  if (/[\u0C80-\u0CFF]/.test(text)) return "Kannada";</a:t>
            </a:r>
          </a:p>
          <a:p>
            <a:r>
              <a:rPr lang="en-IN" sz="1400" dirty="0"/>
              <a:t>  if (/[\u0B80-\u0BFF]/.test(text)) return "Tamil";</a:t>
            </a:r>
          </a:p>
          <a:p>
            <a:r>
              <a:rPr lang="en-IN" sz="1400" dirty="0"/>
              <a:t>  if (/[\u0900-\u097F]/.test(text)) return "Hindi";</a:t>
            </a:r>
          </a:p>
          <a:p>
            <a:r>
              <a:rPr lang="en-IN" sz="1400" dirty="0"/>
              <a:t>  // ... detects 6+ languages automatically</a:t>
            </a:r>
          </a:p>
          <a:p>
            <a:r>
              <a:rPr lang="en-IN" sz="14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B4229-FC6E-DA59-2893-7BBAEA8B0EAD}"/>
              </a:ext>
            </a:extLst>
          </p:cNvPr>
          <p:cNvSpPr txBox="1"/>
          <p:nvPr/>
        </p:nvSpPr>
        <p:spPr>
          <a:xfrm>
            <a:off x="633247" y="5378245"/>
            <a:ext cx="5462753" cy="5211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600" dirty="0">
                <a:solidFill>
                  <a:schemeClr val="tx2"/>
                </a:solidFill>
              </a:rPr>
              <a:t>GitHub Repository link :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  https://github.com/likithkumar156-design/aarogya-ai.git </a:t>
            </a:r>
          </a:p>
          <a:p>
            <a:pPr algn="l"/>
            <a:endParaRPr lang="en-IN" sz="16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221CE-395A-B555-52FE-0E3CBC5404DB}"/>
              </a:ext>
            </a:extLst>
          </p:cNvPr>
          <p:cNvSpPr txBox="1"/>
          <p:nvPr/>
        </p:nvSpPr>
        <p:spPr>
          <a:xfrm>
            <a:off x="4694584" y="1822660"/>
            <a:ext cx="3741494" cy="29871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chemeClr val="tx2"/>
                </a:solidFill>
              </a:rPr>
              <a:t>Hybrid AI integration : </a:t>
            </a:r>
          </a:p>
          <a:p>
            <a:pPr algn="l"/>
            <a:endParaRPr lang="en-US" sz="1600" b="1" dirty="0">
              <a:solidFill>
                <a:schemeClr val="tx2"/>
              </a:solidFill>
            </a:endParaRPr>
          </a:p>
          <a:p>
            <a:r>
              <a:rPr lang="en-IN" sz="1400" dirty="0">
                <a:solidFill>
                  <a:schemeClr val="tx2"/>
                </a:solidFill>
              </a:rPr>
              <a:t>// Dataset engine (offline, instant)</a:t>
            </a:r>
          </a:p>
          <a:p>
            <a:r>
              <a:rPr lang="en-IN" sz="1400" dirty="0" err="1">
                <a:solidFill>
                  <a:schemeClr val="tx2"/>
                </a:solidFill>
              </a:rPr>
              <a:t>const</a:t>
            </a:r>
            <a:r>
              <a:rPr lang="en-IN" sz="1400" dirty="0">
                <a:solidFill>
                  <a:schemeClr val="tx2"/>
                </a:solidFill>
              </a:rPr>
              <a:t> </a:t>
            </a:r>
            <a:r>
              <a:rPr lang="en-IN" sz="1400" dirty="0" err="1">
                <a:solidFill>
                  <a:schemeClr val="tx2"/>
                </a:solidFill>
              </a:rPr>
              <a:t>datasetResult</a:t>
            </a:r>
            <a:r>
              <a:rPr lang="en-IN" sz="1400" dirty="0">
                <a:solidFill>
                  <a:schemeClr val="tx2"/>
                </a:solidFill>
              </a:rPr>
              <a:t> = </a:t>
            </a:r>
            <a:r>
              <a:rPr lang="en-IN" sz="1400" dirty="0" err="1">
                <a:solidFill>
                  <a:schemeClr val="tx2"/>
                </a:solidFill>
              </a:rPr>
              <a:t>analyzeSymptoms</a:t>
            </a:r>
            <a:r>
              <a:rPr lang="en-IN" sz="1400" dirty="0">
                <a:solidFill>
                  <a:schemeClr val="tx2"/>
                </a:solidFill>
              </a:rPr>
              <a:t>(messages);</a:t>
            </a:r>
          </a:p>
          <a:p>
            <a:endParaRPr lang="en-IN" sz="1400" dirty="0">
              <a:solidFill>
                <a:schemeClr val="tx2"/>
              </a:solidFill>
            </a:endParaRPr>
          </a:p>
          <a:p>
            <a:r>
              <a:rPr lang="en-IN" sz="1400" dirty="0">
                <a:solidFill>
                  <a:schemeClr val="tx2"/>
                </a:solidFill>
              </a:rPr>
              <a:t>// Try </a:t>
            </a:r>
            <a:r>
              <a:rPr lang="en-IN" sz="1400" dirty="0" err="1">
                <a:solidFill>
                  <a:schemeClr val="tx2"/>
                </a:solidFill>
              </a:rPr>
              <a:t>Groq</a:t>
            </a:r>
            <a:r>
              <a:rPr lang="en-IN" sz="1400" dirty="0">
                <a:solidFill>
                  <a:schemeClr val="tx2"/>
                </a:solidFill>
              </a:rPr>
              <a:t> for natural conversation</a:t>
            </a:r>
          </a:p>
          <a:p>
            <a:r>
              <a:rPr lang="en-IN" sz="1400" dirty="0">
                <a:solidFill>
                  <a:schemeClr val="tx2"/>
                </a:solidFill>
              </a:rPr>
              <a:t>try {</a:t>
            </a:r>
          </a:p>
          <a:p>
            <a:r>
              <a:rPr lang="en-IN" sz="1400" dirty="0">
                <a:solidFill>
                  <a:schemeClr val="tx2"/>
                </a:solidFill>
              </a:rPr>
              <a:t>  </a:t>
            </a:r>
            <a:r>
              <a:rPr lang="en-IN" sz="1400" dirty="0" err="1">
                <a:solidFill>
                  <a:schemeClr val="tx2"/>
                </a:solidFill>
              </a:rPr>
              <a:t>const</a:t>
            </a:r>
            <a:r>
              <a:rPr lang="en-IN" sz="1400" dirty="0">
                <a:solidFill>
                  <a:schemeClr val="tx2"/>
                </a:solidFill>
              </a:rPr>
              <a:t> </a:t>
            </a:r>
            <a:r>
              <a:rPr lang="en-IN" sz="1400" dirty="0" err="1">
                <a:solidFill>
                  <a:schemeClr val="tx2"/>
                </a:solidFill>
              </a:rPr>
              <a:t>groqResult</a:t>
            </a:r>
            <a:r>
              <a:rPr lang="en-IN" sz="1400" dirty="0">
                <a:solidFill>
                  <a:schemeClr val="tx2"/>
                </a:solidFill>
              </a:rPr>
              <a:t> = await </a:t>
            </a:r>
            <a:r>
              <a:rPr lang="en-IN" sz="1400" dirty="0" err="1">
                <a:solidFill>
                  <a:schemeClr val="tx2"/>
                </a:solidFill>
              </a:rPr>
              <a:t>generateChatResponse</a:t>
            </a:r>
            <a:r>
              <a:rPr lang="en-IN" sz="1400" dirty="0">
                <a:solidFill>
                  <a:schemeClr val="tx2"/>
                </a:solidFill>
              </a:rPr>
              <a:t>(messages);</a:t>
            </a:r>
          </a:p>
          <a:p>
            <a:r>
              <a:rPr lang="en-IN" sz="1400" dirty="0">
                <a:solidFill>
                  <a:schemeClr val="tx2"/>
                </a:solidFill>
              </a:rPr>
              <a:t>  </a:t>
            </a:r>
            <a:r>
              <a:rPr lang="en-IN" sz="1400" dirty="0" err="1">
                <a:solidFill>
                  <a:schemeClr val="tx2"/>
                </a:solidFill>
              </a:rPr>
              <a:t>finalContent</a:t>
            </a:r>
            <a:r>
              <a:rPr lang="en-IN" sz="1400" dirty="0">
                <a:solidFill>
                  <a:schemeClr val="tx2"/>
                </a:solidFill>
              </a:rPr>
              <a:t> = </a:t>
            </a:r>
            <a:r>
              <a:rPr lang="en-IN" sz="1400" dirty="0" err="1">
                <a:solidFill>
                  <a:schemeClr val="tx2"/>
                </a:solidFill>
              </a:rPr>
              <a:t>groqResult.content</a:t>
            </a:r>
            <a:r>
              <a:rPr lang="en-IN" sz="1400" dirty="0">
                <a:solidFill>
                  <a:schemeClr val="tx2"/>
                </a:solidFill>
              </a:rPr>
              <a:t>;</a:t>
            </a:r>
          </a:p>
          <a:p>
            <a:r>
              <a:rPr lang="en-IN" sz="1400" dirty="0">
                <a:solidFill>
                  <a:schemeClr val="tx2"/>
                </a:solidFill>
              </a:rPr>
              <a:t>} catch {</a:t>
            </a:r>
          </a:p>
          <a:p>
            <a:r>
              <a:rPr lang="en-IN" sz="1400" dirty="0">
                <a:solidFill>
                  <a:schemeClr val="tx2"/>
                </a:solidFill>
              </a:rPr>
              <a:t>  // Graceful fallback to dataset</a:t>
            </a:r>
          </a:p>
          <a:p>
            <a:r>
              <a:rPr lang="en-IN" sz="16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E8D30-21C1-679A-055C-11762C237510}"/>
              </a:ext>
            </a:extLst>
          </p:cNvPr>
          <p:cNvSpPr txBox="1"/>
          <p:nvPr/>
        </p:nvSpPr>
        <p:spPr>
          <a:xfrm>
            <a:off x="7536107" y="1946787"/>
            <a:ext cx="3741493" cy="3187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chemeClr val="tx2"/>
                </a:solidFill>
              </a:rPr>
              <a:t>WhatsApp Integration : </a:t>
            </a:r>
          </a:p>
          <a:p>
            <a:pPr algn="l"/>
            <a:endParaRPr lang="en-US" sz="1600" b="1" dirty="0">
              <a:solidFill>
                <a:schemeClr val="tx2"/>
              </a:solidFill>
            </a:endParaRPr>
          </a:p>
          <a:p>
            <a:r>
              <a:rPr lang="en-IN" sz="1600" dirty="0">
                <a:solidFill>
                  <a:schemeClr val="tx2"/>
                </a:solidFill>
              </a:rPr>
              <a:t>// Stateful conversation on WhatsApp</a:t>
            </a:r>
          </a:p>
          <a:p>
            <a:r>
              <a:rPr lang="en-IN" sz="1600" dirty="0" err="1">
                <a:solidFill>
                  <a:schemeClr val="tx2"/>
                </a:solidFill>
              </a:rPr>
              <a:t>session.history.push</a:t>
            </a:r>
            <a:r>
              <a:rPr lang="en-IN" sz="1600" dirty="0">
                <a:solidFill>
                  <a:schemeClr val="tx2"/>
                </a:solidFill>
              </a:rPr>
              <a:t>({ role: "user", content: body });</a:t>
            </a:r>
          </a:p>
          <a:p>
            <a:r>
              <a:rPr lang="en-IN" sz="1600" dirty="0" err="1">
                <a:solidFill>
                  <a:schemeClr val="tx2"/>
                </a:solidFill>
              </a:rPr>
              <a:t>const</a:t>
            </a:r>
            <a:r>
              <a:rPr lang="en-IN" sz="1600" dirty="0">
                <a:solidFill>
                  <a:schemeClr val="tx2"/>
                </a:solidFill>
              </a:rPr>
              <a:t> </a:t>
            </a:r>
            <a:r>
              <a:rPr lang="en-IN" sz="1600" dirty="0" err="1">
                <a:solidFill>
                  <a:schemeClr val="tx2"/>
                </a:solidFill>
              </a:rPr>
              <a:t>aiResponse</a:t>
            </a:r>
            <a:r>
              <a:rPr lang="en-IN" sz="1600" dirty="0">
                <a:solidFill>
                  <a:schemeClr val="tx2"/>
                </a:solidFill>
              </a:rPr>
              <a:t> = </a:t>
            </a:r>
            <a:r>
              <a:rPr lang="en-IN" sz="1600" dirty="0" err="1">
                <a:solidFill>
                  <a:schemeClr val="tx2"/>
                </a:solidFill>
              </a:rPr>
              <a:t>analyzeSymptoms</a:t>
            </a:r>
            <a:r>
              <a:rPr lang="en-IN" sz="1600" dirty="0">
                <a:solidFill>
                  <a:schemeClr val="tx2"/>
                </a:solidFill>
              </a:rPr>
              <a:t>(</a:t>
            </a:r>
            <a:r>
              <a:rPr lang="en-IN" sz="1600" dirty="0" err="1">
                <a:solidFill>
                  <a:schemeClr val="tx2"/>
                </a:solidFill>
              </a:rPr>
              <a:t>session.history</a:t>
            </a:r>
            <a:r>
              <a:rPr lang="en-IN" sz="1600" dirty="0">
                <a:solidFill>
                  <a:schemeClr val="tx2"/>
                </a:solidFill>
              </a:rPr>
              <a:t>);</a:t>
            </a: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IN" sz="1600" dirty="0">
                <a:solidFill>
                  <a:schemeClr val="tx2"/>
                </a:solidFill>
              </a:rPr>
              <a:t>if (</a:t>
            </a:r>
            <a:r>
              <a:rPr lang="en-IN" sz="1600" dirty="0" err="1">
                <a:solidFill>
                  <a:schemeClr val="tx2"/>
                </a:solidFill>
              </a:rPr>
              <a:t>aiResponse.riskScores</a:t>
            </a:r>
            <a:r>
              <a:rPr lang="en-IN" sz="1600" dirty="0">
                <a:solidFill>
                  <a:schemeClr val="tx2"/>
                </a:solidFill>
              </a:rPr>
              <a:t>) {</a:t>
            </a:r>
          </a:p>
          <a:p>
            <a:r>
              <a:rPr lang="en-IN" sz="1600" dirty="0">
                <a:solidFill>
                  <a:schemeClr val="tx2"/>
                </a:solidFill>
              </a:rPr>
              <a:t>  reply += `\n⚠️ *RISK ALERT*\n${</a:t>
            </a:r>
            <a:r>
              <a:rPr lang="en-IN" sz="1600" dirty="0" err="1">
                <a:solidFill>
                  <a:schemeClr val="tx2"/>
                </a:solidFill>
              </a:rPr>
              <a:t>top.disease</a:t>
            </a:r>
            <a:r>
              <a:rPr lang="en-IN" sz="1600" dirty="0">
                <a:solidFill>
                  <a:schemeClr val="tx2"/>
                </a:solidFill>
              </a:rPr>
              <a:t>}: ${</a:t>
            </a:r>
            <a:r>
              <a:rPr lang="en-IN" sz="1600" dirty="0" err="1">
                <a:solidFill>
                  <a:schemeClr val="tx2"/>
                </a:solidFill>
              </a:rPr>
              <a:t>top.probability</a:t>
            </a:r>
            <a:r>
              <a:rPr lang="en-IN" sz="1600" dirty="0">
                <a:solidFill>
                  <a:schemeClr val="tx2"/>
                </a:solidFill>
              </a:rPr>
              <a:t>}%`;</a:t>
            </a:r>
          </a:p>
          <a:p>
            <a:r>
              <a:rPr lang="en-IN" sz="1600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233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6053327" cy="92333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1035EC-6D18-44A4-BB42-C9DEBF2D5983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13f2c8c6-9aca-4830-85ce-a55535ee011e"/>
    <ds:schemaRef ds:uri="http://purl.org/dc/terms/"/>
    <ds:schemaRef ds:uri="http://schemas.openxmlformats.org/package/2006/metadata/core-properties"/>
    <ds:schemaRef ds:uri="0a84972d-ef8c-45a9-9686-55cfd8231be0"/>
    <ds:schemaRef ds:uri="3c35e321-f73a-4dae-ae38-a0459de24735"/>
  </ds:schemaRefs>
</ds:datastoreItem>
</file>

<file path=customXml/itemProps2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24D5D3-2BE3-4278-95F2-2A2616C3D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84972d-ef8c-45a9-9686-55cfd8231be0"/>
    <ds:schemaRef ds:uri="1eec79b3-321e-4dfa-8d23-6bc73fc62350"/>
    <ds:schemaRef ds:uri="3c35e321-f73a-4dae-ae38-a0459de24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6692</TotalTime>
  <Words>1151</Words>
  <Application>Microsoft Office PowerPoint</Application>
  <PresentationFormat>Widescreen</PresentationFormat>
  <Paragraphs>154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1_Office Theme</vt:lpstr>
      <vt:lpstr>2_Office Theme</vt:lpstr>
      <vt:lpstr>MVP Presentation - Core Titans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dc:creator>Mohammad Tanveer</dc:creator>
  <cp:keywords/>
  <dc:description/>
  <cp:lastModifiedBy>Nanditha LN</cp:lastModifiedBy>
  <cp:revision>17</cp:revision>
  <dcterms:created xsi:type="dcterms:W3CDTF">2022-04-01T05:31:57Z</dcterms:created>
  <dcterms:modified xsi:type="dcterms:W3CDTF">2026-05-07T03:53:03Z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